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0" r:id="rId5"/>
    <p:sldId id="259" r:id="rId6"/>
    <p:sldId id="260" r:id="rId7"/>
    <p:sldId id="262" r:id="rId8"/>
    <p:sldId id="263" r:id="rId9"/>
    <p:sldId id="271" r:id="rId10"/>
    <p:sldId id="272" r:id="rId11"/>
    <p:sldId id="264" r:id="rId12"/>
    <p:sldId id="273" r:id="rId13"/>
    <p:sldId id="281" r:id="rId14"/>
    <p:sldId id="282" r:id="rId15"/>
    <p:sldId id="283" r:id="rId16"/>
    <p:sldId id="274" r:id="rId17"/>
    <p:sldId id="275" r:id="rId18"/>
    <p:sldId id="284" r:id="rId19"/>
    <p:sldId id="266" r:id="rId20"/>
    <p:sldId id="285" r:id="rId21"/>
    <p:sldId id="288" r:id="rId22"/>
    <p:sldId id="286" r:id="rId23"/>
    <p:sldId id="287" r:id="rId24"/>
    <p:sldId id="26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FA37E-F960-4E35-8ADD-901DF87E8E45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2DD38-3B59-437F-8887-139B6D7B09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80928"/>
            <a:ext cx="7772400" cy="1080120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PRIVACY –PRESERVING DECENTRALIZED ACCESS CONTROL SYSTEM USING BLOCKCHAIN, IPFS AND ZERO-KNOWLEDGE PROOFS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F9D714-D971-E8BC-1226-C9FA3432F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24" y="241907"/>
            <a:ext cx="8098944" cy="16749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56DBCBE-E147-3F9A-6DAE-EE74A91E6958}"/>
              </a:ext>
            </a:extLst>
          </p:cNvPr>
          <p:cNvSpPr txBox="1">
            <a:spLocks/>
          </p:cNvSpPr>
          <p:nvPr/>
        </p:nvSpPr>
        <p:spPr>
          <a:xfrm>
            <a:off x="685800" y="4221088"/>
            <a:ext cx="7772400" cy="1872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A19C36F-6382-2141-2C38-F5244FFCBC70}"/>
              </a:ext>
            </a:extLst>
          </p:cNvPr>
          <p:cNvSpPr txBox="1">
            <a:spLocks/>
          </p:cNvSpPr>
          <p:nvPr/>
        </p:nvSpPr>
        <p:spPr>
          <a:xfrm>
            <a:off x="685524" y="2060848"/>
            <a:ext cx="77724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Department of Computer Science &amp; Engineering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5B3EDD-0B1A-8542-9DCD-9899D0D3665B}"/>
              </a:ext>
            </a:extLst>
          </p:cNvPr>
          <p:cNvSpPr txBox="1">
            <a:spLocks/>
          </p:cNvSpPr>
          <p:nvPr/>
        </p:nvSpPr>
        <p:spPr>
          <a:xfrm>
            <a:off x="539552" y="4426652"/>
            <a:ext cx="1953021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Project Guidance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33EA6F-C221-AAEB-5CA2-6E0C49E97C4A}"/>
              </a:ext>
            </a:extLst>
          </p:cNvPr>
          <p:cNvSpPr txBox="1">
            <a:spLocks/>
          </p:cNvSpPr>
          <p:nvPr/>
        </p:nvSpPr>
        <p:spPr>
          <a:xfrm>
            <a:off x="528515" y="4881675"/>
            <a:ext cx="4341978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Mrs.B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 Brinda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Bonsalin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B.Tech.,M.E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.,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6D1003-BB29-8DF2-7CBB-F876A3853EFA}"/>
              </a:ext>
            </a:extLst>
          </p:cNvPr>
          <p:cNvSpPr txBox="1">
            <a:spLocks/>
          </p:cNvSpPr>
          <p:nvPr/>
        </p:nvSpPr>
        <p:spPr>
          <a:xfrm>
            <a:off x="590062" y="5373214"/>
            <a:ext cx="2073312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Assistant Professor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CADD66-E0EF-5744-85F3-D8E46FCF818C}"/>
              </a:ext>
            </a:extLst>
          </p:cNvPr>
          <p:cNvSpPr txBox="1">
            <a:spLocks/>
          </p:cNvSpPr>
          <p:nvPr/>
        </p:nvSpPr>
        <p:spPr>
          <a:xfrm>
            <a:off x="656554" y="5804802"/>
            <a:ext cx="2006820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Department of CSE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F06A1BC-7893-57E9-A3F4-E4201F85749E}"/>
              </a:ext>
            </a:extLst>
          </p:cNvPr>
          <p:cNvSpPr txBox="1">
            <a:spLocks/>
          </p:cNvSpPr>
          <p:nvPr/>
        </p:nvSpPr>
        <p:spPr>
          <a:xfrm>
            <a:off x="5292080" y="4514046"/>
            <a:ext cx="2088231" cy="339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Project by</a:t>
            </a:r>
          </a:p>
          <a:p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188E3-DA13-F854-0F61-6F850740412C}"/>
              </a:ext>
            </a:extLst>
          </p:cNvPr>
          <p:cNvSpPr txBox="1">
            <a:spLocks/>
          </p:cNvSpPr>
          <p:nvPr/>
        </p:nvSpPr>
        <p:spPr>
          <a:xfrm>
            <a:off x="5723201" y="4624417"/>
            <a:ext cx="1705393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Team Members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6FAE22B-7F24-F9CF-E473-4789DBD12FC2}"/>
              </a:ext>
            </a:extLst>
          </p:cNvPr>
          <p:cNvSpPr txBox="1">
            <a:spLocks/>
          </p:cNvSpPr>
          <p:nvPr/>
        </p:nvSpPr>
        <p:spPr>
          <a:xfrm>
            <a:off x="5550171" y="5051394"/>
            <a:ext cx="3061267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Aakash .T (821722104001)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360E12-D309-55F7-FFD7-A4C64D3F1106}"/>
              </a:ext>
            </a:extLst>
          </p:cNvPr>
          <p:cNvSpPr txBox="1">
            <a:spLocks/>
          </p:cNvSpPr>
          <p:nvPr/>
        </p:nvSpPr>
        <p:spPr>
          <a:xfrm>
            <a:off x="5396657" y="5411434"/>
            <a:ext cx="3061267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Jayasuriya .R (821722104016)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E69D8BA-8AC3-2695-6092-132B83BA12B4}"/>
              </a:ext>
            </a:extLst>
          </p:cNvPr>
          <p:cNvSpPr txBox="1">
            <a:spLocks/>
          </p:cNvSpPr>
          <p:nvPr/>
        </p:nvSpPr>
        <p:spPr>
          <a:xfrm>
            <a:off x="5748057" y="5752365"/>
            <a:ext cx="2753093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Joswa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.K (821722104019)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AB05F25-0C48-A219-C79F-47A244075BA5}"/>
              </a:ext>
            </a:extLst>
          </p:cNvPr>
          <p:cNvSpPr txBox="1">
            <a:spLocks/>
          </p:cNvSpPr>
          <p:nvPr/>
        </p:nvSpPr>
        <p:spPr>
          <a:xfrm>
            <a:off x="5593969" y="6138958"/>
            <a:ext cx="3061267" cy="5145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Manoj .G (821722104701)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In the era of digital transformation, centralized cloud storage systems pose significant security and privacy risks, including data breaches, unauthorized access, and dependency on third-party providers.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Traditional centralized models store sensitive information in a single repository, making it vulnerable to attacks and creating a trust imbalance for users.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The proposed system introduces a decentralized framework using Blockchain, InterPlanetary File System (IPFS), and advanced cryptographic methods to ensure secure, privacy-preserving, and scalable data storage and sharing.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Cryptographic techniques like Elliptic Curve Cryptography (ECC), proxy re-encryption, and zero-knowledge proofs allow users to retain full control over their data while enabling secure access for authorized parties without exposing sensitive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340768"/>
            <a:ext cx="8429684" cy="494974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IN" sz="1550" dirty="0">
                <a:latin typeface="Times New Roman" pitchFamily="18" charset="0"/>
                <a:cs typeface="Times New Roman" pitchFamily="18" charset="0"/>
              </a:rPr>
              <a:t>Cloud storage has become essential for data management and online services, but centralized systems create vulnerabilities such as data breaches, unauthorized access, and reliance on third-party providers.</a:t>
            </a:r>
          </a:p>
          <a:p>
            <a:pPr algn="just">
              <a:lnSpc>
                <a:spcPct val="170000"/>
              </a:lnSpc>
            </a:pPr>
            <a:r>
              <a:rPr lang="en-IN" sz="1550" dirty="0">
                <a:latin typeface="Times New Roman" pitchFamily="18" charset="0"/>
                <a:cs typeface="Times New Roman" pitchFamily="18" charset="0"/>
              </a:rPr>
              <a:t>Traditional centralized models store sensitive user information in single repositories, making them attractive targets for cyberattacks and reducing user trust.</a:t>
            </a:r>
          </a:p>
          <a:p>
            <a:pPr algn="just">
              <a:lnSpc>
                <a:spcPct val="170000"/>
              </a:lnSpc>
            </a:pPr>
            <a:r>
              <a:rPr lang="en-IN" sz="1550" dirty="0">
                <a:latin typeface="Times New Roman" pitchFamily="18" charset="0"/>
                <a:cs typeface="Times New Roman" pitchFamily="18" charset="0"/>
              </a:rPr>
              <a:t>There is a growing need for a secure, transparent, and privacy-preserving framework that allows users to maintain control over their data while sharing and accessing it efficiently.</a:t>
            </a:r>
          </a:p>
          <a:p>
            <a:pPr algn="just">
              <a:lnSpc>
                <a:spcPct val="170000"/>
              </a:lnSpc>
            </a:pPr>
            <a:r>
              <a:rPr lang="en-IN" sz="1550" dirty="0">
                <a:latin typeface="Times New Roman" pitchFamily="18" charset="0"/>
                <a:cs typeface="Times New Roman" pitchFamily="18" charset="0"/>
              </a:rPr>
              <a:t>The proposed system leverages decentralized technologies like Blockchain and IPFS, along with cryptographic methods such as Elliptic Curve Cryptography (ECC), proxy re-encryption, and zero-knowledge proofs, to enhance data security and privacy.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57158" y="1000107"/>
          <a:ext cx="8358246" cy="5501598"/>
        </p:xfrm>
        <a:graphic>
          <a:graphicData uri="http://schemas.openxmlformats.org/drawingml/2006/table">
            <a:tbl>
              <a:tblPr/>
              <a:tblGrid>
                <a:gridCol w="1686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67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6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368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itchFamily="18" charset="0"/>
                          <a:cs typeface="Times New Roman" pitchFamily="18" charset="0"/>
                        </a:rPr>
                        <a:t>AUTHOR &amp; YEAR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itchFamily="18" charset="0"/>
                          <a:cs typeface="Times New Roman" pitchFamily="18" charset="0"/>
                        </a:rPr>
                        <a:t>TECHNIQUE/ALGORITHM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itchFamily="18" charset="0"/>
                          <a:cs typeface="Times New Roman" pitchFamily="18" charset="0"/>
                        </a:rPr>
                        <a:t>MERIT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itchFamily="18" charset="0"/>
                          <a:cs typeface="Times New Roman" pitchFamily="18" charset="0"/>
                        </a:rPr>
                        <a:t>DEMERIT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20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A blockchain-assisted electronic medical records by using proxy </a:t>
                      </a:r>
                      <a:r>
                        <a:rPr lang="en-IN" sz="1200" dirty="0" err="1">
                          <a:latin typeface="Times New Roman" pitchFamily="18" charset="0"/>
                          <a:cs typeface="Times New Roman" pitchFamily="18" charset="0"/>
                        </a:rPr>
                        <a:t>reencryption</a:t>
                      </a:r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 and multisignature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Liu, Xiaoguang, Jun Yan, Shuqiang Shan, and Rongjun Wu (2022)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Blockchain, Proxy Re-encryption, Multisignature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Ensures secure sharing of medical records and prevents unauthorized access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Implementation complexity; high computational cost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1300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A novel cloud enabled access control model for preserving the security and privacy of medical big data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Alabdulatif, Abdullah, Navod Neranjan Thilakarathne, and Kassim Kalinaki (2023)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Cloud-based Access Control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Preserves privacy of medical big data; scalable model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Depends on cloud service reliability; centralization risk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7226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Privacy-preserving data in IoT-based cloud systems: A comprehensive survey with AI integration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>
                          <a:latin typeface="Times New Roman" pitchFamily="18" charset="0"/>
                          <a:cs typeface="Times New Roman" pitchFamily="18" charset="0"/>
                        </a:rPr>
                        <a:t>Dhinakaran, D., et al. (2024)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AI-based Privacy-preserving Techniques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Provides comprehensive framework for IoT data security; integrates AI for intelligent control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Survey-based; lacks practical implementation results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202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Smart contract token-based privacy-preserving access control system for industrial Internet of Things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Wang, Weizheng, et al. (2023)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Blockchain, Smart Contracts, Token-based Access Control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Automated access control; secure and transparent for IoT applications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Requires blockchain infrastructure; may have latency issues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1300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An efficient privacy-preserving control mechanism based on blockchain for E-health applications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>
                          <a:latin typeface="Times New Roman" pitchFamily="18" charset="0"/>
                          <a:cs typeface="Times New Roman" pitchFamily="18" charset="0"/>
                        </a:rPr>
                        <a:t>Alsuqaih, Hanan Naser, et al. (2023)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Blockchain-based Privacy-preserving Mechanism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itchFamily="18" charset="0"/>
                          <a:cs typeface="Times New Roman" pitchFamily="18" charset="0"/>
                        </a:rPr>
                        <a:t>Enhances data privacy and security in E-health; tamper-proof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itchFamily="18" charset="0"/>
                          <a:cs typeface="Times New Roman" pitchFamily="18" charset="0"/>
                        </a:rPr>
                        <a:t>High computation and storage requirements; complex deployment</a:t>
                      </a:r>
                    </a:p>
                  </a:txBody>
                  <a:tcPr marL="20525" marR="20525" marT="10263" marB="1026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Centralized cloud storage systems rely on a single authority, usually the service provider, to manage user authentication, data access, and storage.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All user credentials, encryption keys, and access permissions are stored in centralized databases, making them vulnerable to cyberattacks and data breaches.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Users must trust third-party providers to handle their personal and sensitive data, often without full transparency about how the data is used or shared.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Centralized management creates a single point of failure, where server outages or attacks can disrupt access to all stored data.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Existing systems lack scalability, flexibility, and sufficient privacy preservation, as data ownership and access policies are controlled by service providers rather than the users themselves.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DISADVANTAGES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Users have limited control over their personal data and access permissions.</a:t>
            </a:r>
          </a:p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Centralized storage creates a single point of failure, increasing the risk of data breaches.</a:t>
            </a:r>
          </a:p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The system depends heavily on third-party providers, reducing transparency and trust.</a:t>
            </a:r>
          </a:p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Unauthorized access or misuse of sensitive information is more likely.</a:t>
            </a:r>
          </a:p>
          <a:p>
            <a:pPr algn="just">
              <a:lnSpc>
                <a:spcPct val="170000"/>
              </a:lnSpc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Server outages or attacks can disrupt access to all stored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PROPOSED SYSTEM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Introduces a decentralized and cryptographically secure framework for cloud data storage and sharing, eliminating reliance on centralized authorities.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Utilizes Blockchain, InterPlanetary File System (IPFS), and Elliptic Curve Cryptography (ECC) to ensure data confidentiality, integrity, and transparency.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Data owners encrypt files using ECC before uploading, while IPFS provides distributed, tamper-resistant storage and blockchain records metadata and access logs.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Integrates proxy re-encryption and zero-knowledge proofs to enable secure file sharing and access verification without exposing sensitive credentials.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Empowers users with full control over their data, ensuring verifiable, traceable, and privacy-preserving access while minimizing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cyberattack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risks.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ADVANTAGES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Ensures strong data security using Elliptic Curve Cryptography (ECC) with efficient encryption.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Eliminates the risk of centralized data breaches through decentralized storage using IPFS.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Provides transparent and tamper-proof access control via blockchain integration.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Enhances user privacy through proxy re-encryption and zero-knowledge proof mechanisms.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Gives users complete control over data sharing and access permissions.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SYSTEM ARCHITECTURE </a:t>
            </a:r>
          </a:p>
        </p:txBody>
      </p:sp>
      <p:sp>
        <p:nvSpPr>
          <p:cNvPr id="924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1265" name="Group 1"/>
          <p:cNvGrpSpPr>
            <a:grpSpLocks noChangeAspect="1"/>
          </p:cNvGrpSpPr>
          <p:nvPr/>
        </p:nvGrpSpPr>
        <p:grpSpPr bwMode="auto">
          <a:xfrm>
            <a:off x="1428728" y="1357298"/>
            <a:ext cx="6297613" cy="5848350"/>
            <a:chOff x="1289" y="4913"/>
            <a:chExt cx="7911" cy="7345"/>
          </a:xfrm>
        </p:grpSpPr>
        <p:sp>
          <p:nvSpPr>
            <p:cNvPr id="11266" name="AutoShape 2"/>
            <p:cNvSpPr>
              <a:spLocks noChangeAspect="1" noChangeArrowheads="1"/>
            </p:cNvSpPr>
            <p:nvPr/>
          </p:nvSpPr>
          <p:spPr bwMode="auto">
            <a:xfrm>
              <a:off x="1289" y="4913"/>
              <a:ext cx="7911" cy="734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pic>
          <p:nvPicPr>
            <p:cNvPr id="11267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38" y="4913"/>
              <a:ext cx="634" cy="577"/>
            </a:xfrm>
            <a:prstGeom prst="rect">
              <a:avLst/>
            </a:prstGeom>
            <a:noFill/>
          </p:spPr>
        </p:pic>
        <p:pic>
          <p:nvPicPr>
            <p:cNvPr id="11268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386" y="7746"/>
              <a:ext cx="497" cy="475"/>
            </a:xfrm>
            <a:prstGeom prst="rect">
              <a:avLst/>
            </a:prstGeom>
            <a:noFill/>
          </p:spPr>
        </p:pic>
        <p:pic>
          <p:nvPicPr>
            <p:cNvPr id="11269" name="Picture 5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205" y="6681"/>
              <a:ext cx="1101" cy="756"/>
            </a:xfrm>
            <a:prstGeom prst="rect">
              <a:avLst/>
            </a:prstGeom>
            <a:noFill/>
          </p:spPr>
        </p:pic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6372" y="7193"/>
              <a:ext cx="995" cy="3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Share key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1" name="Rectangle 7"/>
            <p:cNvSpPr>
              <a:spLocks noChangeArrowheads="1"/>
            </p:cNvSpPr>
            <p:nvPr/>
          </p:nvSpPr>
          <p:spPr bwMode="auto">
            <a:xfrm>
              <a:off x="2064" y="9813"/>
              <a:ext cx="1340" cy="88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Issue private key and public key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2" name="Rectangle 8"/>
            <p:cNvSpPr>
              <a:spLocks noChangeArrowheads="1"/>
            </p:cNvSpPr>
            <p:nvPr/>
          </p:nvSpPr>
          <p:spPr bwMode="auto">
            <a:xfrm>
              <a:off x="5797" y="5259"/>
              <a:ext cx="1231" cy="408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Send request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3" name="Rectangle 9"/>
            <p:cNvSpPr>
              <a:spLocks noChangeArrowheads="1"/>
            </p:cNvSpPr>
            <p:nvPr/>
          </p:nvSpPr>
          <p:spPr bwMode="auto">
            <a:xfrm>
              <a:off x="2821" y="5358"/>
              <a:ext cx="1458" cy="503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Data owner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4" name="Rectangle 10"/>
            <p:cNvSpPr>
              <a:spLocks noChangeArrowheads="1"/>
            </p:cNvSpPr>
            <p:nvPr/>
          </p:nvSpPr>
          <p:spPr bwMode="auto">
            <a:xfrm>
              <a:off x="2821" y="6232"/>
              <a:ext cx="1458" cy="700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Upload sensitive data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5" name="Rectangle 11"/>
            <p:cNvSpPr>
              <a:spLocks noChangeArrowheads="1"/>
            </p:cNvSpPr>
            <p:nvPr/>
          </p:nvSpPr>
          <p:spPr bwMode="auto">
            <a:xfrm>
              <a:off x="2822" y="7271"/>
              <a:ext cx="1457" cy="763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Data encrypted (ECC + AES)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6" name="Rectangle 12"/>
            <p:cNvSpPr>
              <a:spLocks noChangeArrowheads="1"/>
            </p:cNvSpPr>
            <p:nvPr/>
          </p:nvSpPr>
          <p:spPr bwMode="auto">
            <a:xfrm>
              <a:off x="2822" y="8427"/>
              <a:ext cx="1458" cy="700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Store encrypted data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7" name="Rectangle 13"/>
            <p:cNvSpPr>
              <a:spLocks noChangeArrowheads="1"/>
            </p:cNvSpPr>
            <p:nvPr/>
          </p:nvSpPr>
          <p:spPr bwMode="auto">
            <a:xfrm>
              <a:off x="7261" y="5336"/>
              <a:ext cx="1456" cy="502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Data user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8" name="Rectangle 14"/>
            <p:cNvSpPr>
              <a:spLocks noChangeArrowheads="1"/>
            </p:cNvSpPr>
            <p:nvPr/>
          </p:nvSpPr>
          <p:spPr bwMode="auto">
            <a:xfrm>
              <a:off x="7261" y="6190"/>
              <a:ext cx="1456" cy="640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Get access permission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79" name="Rectangle 15"/>
            <p:cNvSpPr>
              <a:spLocks noChangeArrowheads="1"/>
            </p:cNvSpPr>
            <p:nvPr/>
          </p:nvSpPr>
          <p:spPr bwMode="auto">
            <a:xfrm>
              <a:off x="7259" y="7193"/>
              <a:ext cx="1457" cy="633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Decrypt file using Key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80" name="Rectangle 16"/>
            <p:cNvSpPr>
              <a:spLocks noChangeArrowheads="1"/>
            </p:cNvSpPr>
            <p:nvPr/>
          </p:nvSpPr>
          <p:spPr bwMode="auto">
            <a:xfrm>
              <a:off x="5708" y="10494"/>
              <a:ext cx="1457" cy="642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File encrypted using proxy key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81" name="Rectangle 17"/>
            <p:cNvSpPr>
              <a:spLocks noChangeArrowheads="1"/>
            </p:cNvSpPr>
            <p:nvPr/>
          </p:nvSpPr>
          <p:spPr bwMode="auto">
            <a:xfrm>
              <a:off x="7514" y="10497"/>
              <a:ext cx="1458" cy="639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Re-encrypted the encrypted key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282" name="AutoShape 18"/>
            <p:cNvCxnSpPr>
              <a:cxnSpLocks noChangeShapeType="1"/>
              <a:stCxn id="11273" idx="2"/>
              <a:endCxn id="11274" idx="0"/>
            </p:cNvCxnSpPr>
            <p:nvPr/>
          </p:nvCxnSpPr>
          <p:spPr bwMode="auto">
            <a:xfrm>
              <a:off x="3550" y="5861"/>
              <a:ext cx="1" cy="371"/>
            </a:xfrm>
            <a:prstGeom prst="straightConnector1">
              <a:avLst/>
            </a:prstGeom>
            <a:noFill/>
            <a:ln w="9525">
              <a:solidFill>
                <a:srgbClr val="17365D"/>
              </a:solidFill>
              <a:round/>
              <a:headEnd/>
              <a:tailEnd type="triangle" w="med" len="med"/>
            </a:ln>
          </p:spPr>
        </p:cxnSp>
        <p:cxnSp>
          <p:nvCxnSpPr>
            <p:cNvPr id="11283" name="AutoShape 19"/>
            <p:cNvCxnSpPr>
              <a:cxnSpLocks noChangeShapeType="1"/>
              <a:stCxn id="11274" idx="2"/>
              <a:endCxn id="11275" idx="0"/>
            </p:cNvCxnSpPr>
            <p:nvPr/>
          </p:nvCxnSpPr>
          <p:spPr bwMode="auto">
            <a:xfrm>
              <a:off x="3550" y="6932"/>
              <a:ext cx="1" cy="339"/>
            </a:xfrm>
            <a:prstGeom prst="straightConnector1">
              <a:avLst/>
            </a:prstGeom>
            <a:noFill/>
            <a:ln w="9525">
              <a:solidFill>
                <a:srgbClr val="17365D"/>
              </a:solidFill>
              <a:round/>
              <a:headEnd/>
              <a:tailEnd type="triangle" w="med" len="med"/>
            </a:ln>
          </p:spPr>
        </p:cxnSp>
        <p:cxnSp>
          <p:nvCxnSpPr>
            <p:cNvPr id="11284" name="AutoShape 20"/>
            <p:cNvCxnSpPr>
              <a:cxnSpLocks noChangeShapeType="1"/>
              <a:stCxn id="11275" idx="2"/>
              <a:endCxn id="11276" idx="0"/>
            </p:cNvCxnSpPr>
            <p:nvPr/>
          </p:nvCxnSpPr>
          <p:spPr bwMode="auto">
            <a:xfrm>
              <a:off x="3551" y="8034"/>
              <a:ext cx="1" cy="393"/>
            </a:xfrm>
            <a:prstGeom prst="straightConnector1">
              <a:avLst/>
            </a:prstGeom>
            <a:noFill/>
            <a:ln w="9525">
              <a:solidFill>
                <a:srgbClr val="17365D"/>
              </a:solidFill>
              <a:round/>
              <a:headEnd/>
              <a:tailEnd type="triangle" w="med" len="med"/>
            </a:ln>
          </p:spPr>
        </p:cxnSp>
        <p:cxnSp>
          <p:nvCxnSpPr>
            <p:cNvPr id="11285" name="AutoShape 21"/>
            <p:cNvCxnSpPr>
              <a:cxnSpLocks noChangeShapeType="1"/>
              <a:stCxn id="11276" idx="3"/>
              <a:endCxn id="11291" idx="2"/>
            </p:cNvCxnSpPr>
            <p:nvPr/>
          </p:nvCxnSpPr>
          <p:spPr bwMode="auto">
            <a:xfrm flipV="1">
              <a:off x="4280" y="7516"/>
              <a:ext cx="835" cy="1261"/>
            </a:xfrm>
            <a:prstGeom prst="bentConnector3">
              <a:avLst>
                <a:gd name="adj1" fmla="val 49954"/>
              </a:avLst>
            </a:prstGeom>
            <a:noFill/>
            <a:ln w="9525">
              <a:solidFill>
                <a:srgbClr val="17365D"/>
              </a:solidFill>
              <a:miter lim="800000"/>
              <a:headEnd/>
              <a:tailEnd type="triangle" w="med" len="med"/>
            </a:ln>
          </p:spPr>
        </p:cxnSp>
        <p:cxnSp>
          <p:nvCxnSpPr>
            <p:cNvPr id="11286" name="AutoShape 22"/>
            <p:cNvCxnSpPr>
              <a:cxnSpLocks noChangeShapeType="1"/>
              <a:stCxn id="11277" idx="2"/>
              <a:endCxn id="11278" idx="0"/>
            </p:cNvCxnSpPr>
            <p:nvPr/>
          </p:nvCxnSpPr>
          <p:spPr bwMode="auto">
            <a:xfrm>
              <a:off x="7989" y="5838"/>
              <a:ext cx="1" cy="352"/>
            </a:xfrm>
            <a:prstGeom prst="straightConnector1">
              <a:avLst/>
            </a:prstGeom>
            <a:noFill/>
            <a:ln w="9525">
              <a:solidFill>
                <a:srgbClr val="17365D"/>
              </a:solidFill>
              <a:round/>
              <a:headEnd/>
              <a:tailEnd type="triangle" w="med" len="med"/>
            </a:ln>
          </p:spPr>
        </p:cxnSp>
        <p:cxnSp>
          <p:nvCxnSpPr>
            <p:cNvPr id="11287" name="AutoShape 23"/>
            <p:cNvCxnSpPr>
              <a:cxnSpLocks noChangeShapeType="1"/>
              <a:stCxn id="11278" idx="2"/>
              <a:endCxn id="11279" idx="0"/>
            </p:cNvCxnSpPr>
            <p:nvPr/>
          </p:nvCxnSpPr>
          <p:spPr bwMode="auto">
            <a:xfrm flipH="1">
              <a:off x="7988" y="6830"/>
              <a:ext cx="1" cy="363"/>
            </a:xfrm>
            <a:prstGeom prst="straightConnector1">
              <a:avLst/>
            </a:prstGeom>
            <a:noFill/>
            <a:ln w="9525">
              <a:solidFill>
                <a:srgbClr val="17365D"/>
              </a:solidFill>
              <a:round/>
              <a:headEnd/>
              <a:tailEnd type="triangle" w="med" len="med"/>
            </a:ln>
          </p:spPr>
        </p:cxnSp>
        <p:cxnSp>
          <p:nvCxnSpPr>
            <p:cNvPr id="11288" name="AutoShape 24"/>
            <p:cNvCxnSpPr>
              <a:cxnSpLocks noChangeShapeType="1"/>
              <a:stCxn id="0" idx="2"/>
              <a:endCxn id="11297" idx="0"/>
            </p:cNvCxnSpPr>
            <p:nvPr/>
          </p:nvCxnSpPr>
          <p:spPr bwMode="auto">
            <a:xfrm>
              <a:off x="4702" y="10006"/>
              <a:ext cx="1" cy="488"/>
            </a:xfrm>
            <a:prstGeom prst="straightConnector1">
              <a:avLst/>
            </a:prstGeom>
            <a:noFill/>
            <a:ln w="9525">
              <a:solidFill>
                <a:srgbClr val="17365D"/>
              </a:solidFill>
              <a:round/>
              <a:headEnd/>
              <a:tailEnd type="triangle" w="med" len="med"/>
            </a:ln>
          </p:spPr>
        </p:cxnSp>
        <p:cxnSp>
          <p:nvCxnSpPr>
            <p:cNvPr id="11289" name="AutoShape 25"/>
            <p:cNvCxnSpPr>
              <a:cxnSpLocks noChangeShapeType="1"/>
              <a:stCxn id="11280" idx="3"/>
              <a:endCxn id="11281" idx="1"/>
            </p:cNvCxnSpPr>
            <p:nvPr/>
          </p:nvCxnSpPr>
          <p:spPr bwMode="auto">
            <a:xfrm>
              <a:off x="7165" y="10815"/>
              <a:ext cx="349" cy="2"/>
            </a:xfrm>
            <a:prstGeom prst="straightConnector1">
              <a:avLst/>
            </a:prstGeom>
            <a:noFill/>
            <a:ln w="9525">
              <a:solidFill>
                <a:srgbClr val="17365D"/>
              </a:solidFill>
              <a:round/>
              <a:headEnd/>
              <a:tailEnd type="triangle" w="med" len="med"/>
            </a:ln>
          </p:spPr>
        </p:cxnSp>
        <p:cxnSp>
          <p:nvCxnSpPr>
            <p:cNvPr id="11290" name="AutoShape 26"/>
            <p:cNvCxnSpPr>
              <a:cxnSpLocks noChangeShapeType="1"/>
              <a:stCxn id="11281" idx="0"/>
              <a:endCxn id="0" idx="3"/>
            </p:cNvCxnSpPr>
            <p:nvPr/>
          </p:nvCxnSpPr>
          <p:spPr bwMode="auto">
            <a:xfrm rot="5400000" flipH="1">
              <a:off x="6439" y="8692"/>
              <a:ext cx="796" cy="2813"/>
            </a:xfrm>
            <a:prstGeom prst="bentConnector2">
              <a:avLst/>
            </a:prstGeom>
            <a:noFill/>
            <a:ln w="9525">
              <a:solidFill>
                <a:srgbClr val="17365D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1291" name="AutoShape 27"/>
            <p:cNvSpPr>
              <a:spLocks noChangeArrowheads="1"/>
            </p:cNvSpPr>
            <p:nvPr/>
          </p:nvSpPr>
          <p:spPr bwMode="auto">
            <a:xfrm>
              <a:off x="5115" y="7170"/>
              <a:ext cx="1364" cy="692"/>
            </a:xfrm>
            <a:prstGeom prst="can">
              <a:avLst>
                <a:gd name="adj" fmla="val 25000"/>
              </a:avLst>
            </a:prstGeom>
            <a:solidFill>
              <a:srgbClr val="C2D69B"/>
            </a:solidFill>
            <a:ln w="9525">
              <a:solidFill>
                <a:srgbClr val="17365D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Blockchain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92" name="Rectangle 28"/>
            <p:cNvSpPr>
              <a:spLocks noChangeArrowheads="1"/>
            </p:cNvSpPr>
            <p:nvPr/>
          </p:nvSpPr>
          <p:spPr bwMode="auto">
            <a:xfrm>
              <a:off x="1685" y="5838"/>
              <a:ext cx="834" cy="66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Request keys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293" name="AutoShape 29"/>
            <p:cNvCxnSpPr>
              <a:cxnSpLocks noChangeShapeType="1"/>
              <a:stCxn id="11297" idx="3"/>
              <a:endCxn id="11280" idx="1"/>
            </p:cNvCxnSpPr>
            <p:nvPr/>
          </p:nvCxnSpPr>
          <p:spPr bwMode="auto">
            <a:xfrm>
              <a:off x="5430" y="10815"/>
              <a:ext cx="27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1294" name="AutoShape 30"/>
            <p:cNvCxnSpPr>
              <a:cxnSpLocks noChangeShapeType="1"/>
              <a:stCxn id="11273" idx="1"/>
              <a:endCxn id="0" idx="1"/>
            </p:cNvCxnSpPr>
            <p:nvPr/>
          </p:nvCxnSpPr>
          <p:spPr bwMode="auto">
            <a:xfrm rot="10800000" flipH="1" flipV="1">
              <a:off x="2821" y="5610"/>
              <a:ext cx="1153" cy="4091"/>
            </a:xfrm>
            <a:prstGeom prst="bentConnector3">
              <a:avLst>
                <a:gd name="adj1" fmla="val -24912"/>
              </a:avLst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11295" name="Rectangle 31"/>
            <p:cNvSpPr>
              <a:spLocks noChangeArrowheads="1"/>
            </p:cNvSpPr>
            <p:nvPr/>
          </p:nvSpPr>
          <p:spPr bwMode="auto">
            <a:xfrm>
              <a:off x="7259" y="8962"/>
              <a:ext cx="1458" cy="638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Access data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296" name="AutoShape 32"/>
            <p:cNvCxnSpPr>
              <a:cxnSpLocks noChangeShapeType="1"/>
              <a:stCxn id="11279" idx="2"/>
              <a:endCxn id="11295" idx="0"/>
            </p:cNvCxnSpPr>
            <p:nvPr/>
          </p:nvCxnSpPr>
          <p:spPr bwMode="auto">
            <a:xfrm>
              <a:off x="7988" y="7826"/>
              <a:ext cx="1" cy="11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11297" name="Rectangle 33"/>
            <p:cNvSpPr>
              <a:spLocks noChangeArrowheads="1"/>
            </p:cNvSpPr>
            <p:nvPr/>
          </p:nvSpPr>
          <p:spPr bwMode="auto">
            <a:xfrm>
              <a:off x="3974" y="10494"/>
              <a:ext cx="1456" cy="642"/>
            </a:xfrm>
            <a:prstGeom prst="rect">
              <a:avLst/>
            </a:prstGeom>
            <a:solidFill>
              <a:srgbClr val="92CDDC"/>
            </a:solidFill>
            <a:ln w="9525">
              <a:solidFill>
                <a:srgbClr val="17365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Issue proxy re-encryption key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98" name="Rectangle 34"/>
            <p:cNvSpPr>
              <a:spLocks noChangeArrowheads="1"/>
            </p:cNvSpPr>
            <p:nvPr/>
          </p:nvSpPr>
          <p:spPr bwMode="auto">
            <a:xfrm>
              <a:off x="6642" y="8221"/>
              <a:ext cx="2330" cy="41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IN" sz="11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Arial" pitchFamily="34" charset="0"/>
                  <a:cs typeface="Arial" pitchFamily="34" charset="0"/>
                </a:rPr>
                <a:t>Zero knowledge proof (AKP)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299" name="AutoShape 35"/>
            <p:cNvCxnSpPr>
              <a:cxnSpLocks noChangeShapeType="1"/>
              <a:stCxn id="11291" idx="4"/>
              <a:endCxn id="11279" idx="1"/>
            </p:cNvCxnSpPr>
            <p:nvPr/>
          </p:nvCxnSpPr>
          <p:spPr bwMode="auto">
            <a:xfrm flipV="1">
              <a:off x="6479" y="7510"/>
              <a:ext cx="780" cy="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1300" name="AutoShape 36"/>
            <p:cNvCxnSpPr>
              <a:cxnSpLocks noChangeShapeType="1"/>
              <a:stCxn id="11277" idx="1"/>
              <a:endCxn id="11273" idx="3"/>
            </p:cNvCxnSpPr>
            <p:nvPr/>
          </p:nvCxnSpPr>
          <p:spPr bwMode="auto">
            <a:xfrm flipH="1">
              <a:off x="4279" y="5587"/>
              <a:ext cx="2982" cy="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pic>
          <p:nvPicPr>
            <p:cNvPr id="11301" name="Picture 37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974" y="9396"/>
              <a:ext cx="1456" cy="610"/>
            </a:xfrm>
            <a:prstGeom prst="rect">
              <a:avLst/>
            </a:prstGeom>
            <a:noFill/>
          </p:spPr>
        </p:pic>
        <p:cxnSp>
          <p:nvCxnSpPr>
            <p:cNvPr id="11302" name="AutoShape 38"/>
            <p:cNvCxnSpPr>
              <a:cxnSpLocks noChangeShapeType="1"/>
              <a:stCxn id="11298" idx="1"/>
              <a:endCxn id="0" idx="3"/>
            </p:cNvCxnSpPr>
            <p:nvPr/>
          </p:nvCxnSpPr>
          <p:spPr bwMode="auto">
            <a:xfrm rot="10800000" flipV="1">
              <a:off x="5430" y="8427"/>
              <a:ext cx="1212" cy="1274"/>
            </a:xfrm>
            <a:prstGeom prst="bentConnector3">
              <a:avLst>
                <a:gd name="adj1" fmla="val 49968"/>
              </a:avLst>
            </a:prstGeom>
            <a:noFill/>
            <a:ln w="9525">
              <a:solidFill>
                <a:srgbClr val="000000"/>
              </a:solidFill>
              <a:prstDash val="lgDash"/>
              <a:miter lim="800000"/>
              <a:headEnd/>
              <a:tailEnd type="triangle" w="med" len="med"/>
            </a:ln>
          </p:spPr>
        </p:cxnSp>
        <p:cxnSp>
          <p:nvCxnSpPr>
            <p:cNvPr id="11303" name="AutoShape 39"/>
            <p:cNvCxnSpPr>
              <a:cxnSpLocks noChangeShapeType="1"/>
              <a:stCxn id="0" idx="0"/>
              <a:endCxn id="11276" idx="3"/>
            </p:cNvCxnSpPr>
            <p:nvPr/>
          </p:nvCxnSpPr>
          <p:spPr bwMode="auto">
            <a:xfrm rot="5400000" flipH="1">
              <a:off x="4181" y="8876"/>
              <a:ext cx="619" cy="422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ARCHITECTURE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The system architecture is decentralized, integrating Blockchain for secure transaction logging, IPFS for distributed file storage, and ECC for encryption of user data.</a:t>
            </a:r>
          </a:p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Data owners encrypt their files using ECC before uploading, ensuring confidentiality, while IPFS stores the files in a distributed, tamper-resistant manner.</a:t>
            </a:r>
          </a:p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Blockchain records metadata such as file hashes, access permissions, and transaction logs, providing transparency, immutability, and verifiable access control.</a:t>
            </a:r>
          </a:p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Proxy re-encryption allows secure sharing of encrypted files with authorized users without revealing the original encryption keys, maintaining privacy.</a:t>
            </a:r>
          </a:p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Zero-knowledge proofs enable verification of user authorization without disclosing sensitive credentials, ensuring trustless, privacy-preserving, and scalable access to cloud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LIST OF MODULES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DATA OWNER MODULE</a:t>
            </a:r>
          </a:p>
          <a:p>
            <a:pPr lvl="0">
              <a:lnSpc>
                <a:spcPct val="15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CLOUD SERVER MODULE</a:t>
            </a:r>
          </a:p>
          <a:p>
            <a:pPr lvl="0">
              <a:lnSpc>
                <a:spcPct val="15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IPFS MODULE</a:t>
            </a:r>
          </a:p>
          <a:p>
            <a:pPr lvl="0">
              <a:lnSpc>
                <a:spcPct val="15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DATA USER MODULE</a:t>
            </a:r>
          </a:p>
          <a:p>
            <a:pPr lvl="0">
              <a:lnSpc>
                <a:spcPct val="150000"/>
              </a:lnSpc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MODULES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 Owner Module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Responsible for uploading and managing files in the system.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Encrypts files using Elliptic Curve Cryptography (ECC) before storage.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Sets access permissions for authorized users.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Can track file access and monitor who has permissions.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Initiates proxy re-encryption for secure file sharing.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Maintains control and ownership of all data uploaded to the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MODULES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Cloud Server Module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Acts as the interface between data owners, users, and IPFS storage.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Receives encrypted files from data owners for storage in IPFS.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Manages metadata, including file hashes and access logs.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Ensures availability and retrieval of files for authorized users.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Communicates with blockchain to verify transactions and permissions.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Provides scalable cloud storage without compromising security.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MODULES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IPFS Module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Stores encrypted files in a decentralized and distributed manner.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Ensures tamper-resistant and immutable file storage.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Provides file addressing through unique content hashes.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Reduces dependency on a single central server, avoiding single points of failure.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Facilitates efficient file retrieval and sharing across the network.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Integrates with the cloud server and blockchain to maintain secure file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MODULES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 User Module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Allows users to request and access files shared by data owners.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Verifies authorization via blockchain and zero-knowledge proofs.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Uses proxy re-encryption to decrypt shared files securely.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Ensures that only legitimate users can access encrypted content.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Can track their access history and permissions for accountability.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Provides a secure and privacy-preserving interface for file consumption.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The proposed decentralized cloud storage system effectively addresses the security and privacy challenges of traditional centralized models.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Integration of Blockchain, IPFS, and Elliptic Curve Cryptography (ECC) ensures secure, tamper-proof, and distributed storage of sensitive data.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Proxy re-encryption and zero-knowledge proofs provide enhanced privacy and controlled access, allowing users to securely share files without exposing credentials.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Users gain full ownership and authority over their data, reducing dependency on third-party providers and increasing trust.</a:t>
            </a:r>
          </a:p>
          <a:p>
            <a:pPr algn="just">
              <a:lnSpc>
                <a:spcPct val="17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The system demonstrates a scalable, transparent, and resilient framework that strengthens data confidentiality, integrity, and overall cloud security.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268760"/>
            <a:ext cx="8258204" cy="4732008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Integration of advanced AI-based anomaly detection to identify and prevent unauthorized access in real-time.</a:t>
            </a:r>
          </a:p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Expansion of multi-cloud support to enable cross-platform decentralized storage and improve scalability.</a:t>
            </a:r>
          </a:p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Implementation of smart contracts on blockchain for automated access control and payment mechanisms.</a:t>
            </a:r>
          </a:p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Enhancement of user interface and experience for seamless file management and sharing.</a:t>
            </a:r>
          </a:p>
          <a:p>
            <a:pPr algn="just">
              <a:lnSpc>
                <a:spcPct val="170000"/>
              </a:lnSpc>
            </a:pP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Adoption of post-quantum cryptographic techniques to future-proof the system against quantum attacks.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2110D-7B30-F614-0131-3D0005BE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FF38-A819-B4F3-0C7C-8897B1C02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OUTPUT SCREENSHOT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3A1F9F-2C6F-48B8-7430-48902CCBA7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17638"/>
            <a:ext cx="7848872" cy="474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0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25470"/>
          </a:xfrm>
        </p:spPr>
        <p:txBody>
          <a:bodyPr/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REFERENCE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857232"/>
            <a:ext cx="8501122" cy="5596104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Liu,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Xiaoguang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Jun Yan,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Shuqiang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Shan, and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Rongjun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Wu. "A blockchain-assisted electronic medical records by using proxy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reencryption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and multisignature." Security and Communication Networks 2022 (2022).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[2]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Alabdulatif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Abdullah,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Navod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Neranjan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Thilakarathne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Kassim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Kalinaki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"A novel cloud enabled access control model for preserving the security and privacy of medical big data." Electronics 12.12 (2023): 2646.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Dhinakaran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D., et al. "Privacy-preserving data in IoT-based cloud systems: A comprehensive survey with AI integration." 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arXiv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preprint arXiv:2401.00794 (2024).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[4] Wang,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Weizheng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et al. "Smart contract token-based privacy-preserving access control system for industrial Internet of Things." Digital Communications and Networks 9.2 (2023): 337-346.</a:t>
            </a:r>
          </a:p>
          <a:p>
            <a:pPr algn="just">
              <a:lnSpc>
                <a:spcPct val="17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[5]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Alsuqaih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Hanan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Naser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et al. "An efficient privacy-preserving control mechanism based on blockchain for E-health applications." Alexandria Engineering Journal 73 (2023): 159-172.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53A172-BC7B-F6B5-BB05-998AB4AFB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76672"/>
            <a:ext cx="8208911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49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1A075F-1DDA-D0F1-6AB0-EB875B14B6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3" y="548680"/>
            <a:ext cx="7992888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14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022B44-C387-DFD3-1822-FDF94500D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48680"/>
            <a:ext cx="8280920" cy="55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40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E3C904-984F-FB68-5DCC-AB0F7E059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92696"/>
            <a:ext cx="7992888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64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500306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THANKYOU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1750</Words>
  <Application>Microsoft Office PowerPoint</Application>
  <PresentationFormat>On-screen Show (4:3)</PresentationFormat>
  <Paragraphs>158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PRIVACY –PRESERVING DECENTRALIZED ACCESS CONTROL SYSTEM USING BLOCKCHAIN, IPFS AND ZERO-KNOWLEDGE PROOFS</vt:lpstr>
      <vt:lpstr>ABSTRACT </vt:lpstr>
      <vt:lpstr>INTRODUCTION</vt:lpstr>
      <vt:lpstr>LITERATURE SURVEY</vt:lpstr>
      <vt:lpstr>EXISTING SYSTEM </vt:lpstr>
      <vt:lpstr>DISADVANTAGES </vt:lpstr>
      <vt:lpstr>PROPOSED SYSTEM </vt:lpstr>
      <vt:lpstr>ADVANTAGES </vt:lpstr>
      <vt:lpstr>SYSTEM ARCHITECTURE </vt:lpstr>
      <vt:lpstr>ARCHITECTURE EXPLANATION</vt:lpstr>
      <vt:lpstr>LIST OF MODULES </vt:lpstr>
      <vt:lpstr>MODULES DESCRIPTION</vt:lpstr>
      <vt:lpstr>MODULES DESCRIPTION</vt:lpstr>
      <vt:lpstr>MODULES DESCRIPTION</vt:lpstr>
      <vt:lpstr>MODULES DESCRIPTION</vt:lpstr>
      <vt:lpstr>CONCLUSION</vt:lpstr>
      <vt:lpstr>FUTURE ENHANCEMENTS</vt:lpstr>
      <vt:lpstr>OUTPUT SCREENSHOT</vt:lpstr>
      <vt:lpstr>REFERENCE </vt:lpstr>
      <vt:lpstr>PowerPoint Presentation</vt:lpstr>
      <vt:lpstr>PowerPoint Presentation</vt:lpstr>
      <vt:lpstr>PowerPoint Presentation</vt:lpstr>
      <vt:lpstr>PowerPoint Presentation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ADMIN</dc:creator>
  <cp:lastModifiedBy>S0281954</cp:lastModifiedBy>
  <cp:revision>87</cp:revision>
  <dcterms:created xsi:type="dcterms:W3CDTF">2025-11-21T12:00:10Z</dcterms:created>
  <dcterms:modified xsi:type="dcterms:W3CDTF">2026-05-26T17:29:42Z</dcterms:modified>
</cp:coreProperties>
</file>